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sovereignty point, then ask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8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3977639"/>
            <a:ext cx="12191695" cy="2880361"/>
          </a:xfrm>
          <a:custGeom>
            <a:avLst/>
            <a:gdLst/>
            <a:ahLst/>
            <a:cxnLst/>
            <a:rect l="l" t="t" r="r" b="b"/>
            <a:pathLst>
              <a:path w="12191695" h="2880361">
                <a:moveTo>
                  <a:pt x="0" y="2880361"/>
                </a:moveTo>
                <a:lnTo>
                  <a:pt x="0" y="1371601"/>
                </a:lnTo>
                <a:lnTo>
                  <a:pt x="853418" y="822961"/>
                </a:lnTo>
                <a:lnTo>
                  <a:pt x="1463003" y="1097281"/>
                </a:lnTo>
                <a:lnTo>
                  <a:pt x="2438339" y="137161"/>
                </a:lnTo>
                <a:lnTo>
                  <a:pt x="3291757" y="685801"/>
                </a:lnTo>
                <a:lnTo>
                  <a:pt x="4145176" y="411481"/>
                </a:lnTo>
                <a:lnTo>
                  <a:pt x="5364345" y="1234441"/>
                </a:lnTo>
                <a:lnTo>
                  <a:pt x="6583515" y="548641"/>
                </a:lnTo>
                <a:lnTo>
                  <a:pt x="7558850" y="960121"/>
                </a:lnTo>
                <a:lnTo>
                  <a:pt x="8534186" y="0"/>
                </a:lnTo>
                <a:lnTo>
                  <a:pt x="9509522" y="685801"/>
                </a:lnTo>
                <a:lnTo>
                  <a:pt x="10484857" y="274321"/>
                </a:lnTo>
                <a:lnTo>
                  <a:pt x="12191695" y="1097281"/>
                </a:lnTo>
                <a:lnTo>
                  <a:pt x="12191695" y="2880361"/>
                </a:lnTo>
                <a:close/>
              </a:path>
            </a:pathLst>
          </a:custGeom>
          <a:solidFill>
            <a:srgbClr val="24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5623560"/>
            <a:ext cx="12191695" cy="1234440"/>
          </a:xfrm>
          <a:custGeom>
            <a:avLst/>
            <a:gdLst/>
            <a:ahLst/>
            <a:cxnLst/>
            <a:rect l="l" t="t" r="r" b="b"/>
            <a:pathLst>
              <a:path w="12191695" h="1234440">
                <a:moveTo>
                  <a:pt x="0" y="1234440"/>
                </a:moveTo>
                <a:lnTo>
                  <a:pt x="0" y="548640"/>
                </a:lnTo>
                <a:lnTo>
                  <a:pt x="1219169" y="205740"/>
                </a:lnTo>
                <a:lnTo>
                  <a:pt x="2438339" y="411480"/>
                </a:lnTo>
                <a:lnTo>
                  <a:pt x="4023259" y="0"/>
                </a:lnTo>
                <a:lnTo>
                  <a:pt x="5608179" y="480060"/>
                </a:lnTo>
                <a:lnTo>
                  <a:pt x="7315017" y="137160"/>
                </a:lnTo>
                <a:lnTo>
                  <a:pt x="9143771" y="548640"/>
                </a:lnTo>
                <a:lnTo>
                  <a:pt x="10728691" y="205740"/>
                </a:lnTo>
                <a:lnTo>
                  <a:pt x="12191695" y="480060"/>
                </a:lnTo>
                <a:lnTo>
                  <a:pt x="12191695" y="1234440"/>
                </a:lnTo>
                <a:close/>
              </a:path>
            </a:pathLst>
          </a:custGeom>
          <a:solidFill>
            <a:srgbClr val="58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25042" y="3557015"/>
            <a:ext cx="18288" cy="420624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52474" y="3557015"/>
            <a:ext cx="237744" cy="237744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39342" y="3602735"/>
            <a:ext cx="2743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02766" y="3662171"/>
            <a:ext cx="109728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54480"/>
            <a:ext cx="822960" cy="82296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82296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300" b="1" i="0">
                <a:solidFill>
                  <a:srgbClr val="9FC3DC"/>
                </a:solidFill>
                <a:latin typeface="Calibri"/>
              </a:rPr>
              <a:t>BUZATU · MILLER FAMILY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104241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Georgia"/>
              </a:rPr>
              <a:t>The Swiss Cloud Debate</a:t>
            </a:r>
          </a:p>
          <a:p>
            <a:pPr>
              <a:spcBef>
                <a:spcPts val="1000"/>
              </a:spcBef>
            </a:pPr>
            <a:r>
              <a:rPr sz="2200" b="0" i="0">
                <a:solidFill>
                  <a:srgbClr val="CFE0EC"/>
                </a:solidFill>
                <a:latin typeface="Calibri"/>
              </a:rPr>
              <a:t>A short briefing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400" b="0" i="0">
                <a:solidFill>
                  <a:srgbClr val="9FC3DC"/>
                </a:solidFill>
                <a:latin typeface="Calibri"/>
              </a:rPr>
              <a:t>Anne-Marie · 21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6A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82296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0"/>
            <a:ext cx="104241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Georgia"/>
              </a:rPr>
              <a:t>Section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789920" cy="914400"/>
          </a:xfrm>
        </p:spPr>
        <p:txBody>
          <a:bodyPr wrap="square" anchor="ctr"/>
          <a:lstStyle/>
          <a:p>
            <a:pPr algn="l"/>
            <a:r>
              <a:rPr sz="3400" b="1" i="0">
                <a:solidFill>
                  <a:srgbClr val="1F2A37"/>
                </a:solidFill>
                <a:latin typeface="Georgia"/>
              </a:rPr>
              <a:t>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6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201168" cy="82296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98480" cy="152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050" b="0" i="0">
                <a:solidFill>
                  <a:srgbClr val="6B7785"/>
                </a:solidFill>
                <a:latin typeface="Calibri"/>
              </a:rPr>
              <a:t>The Swiss Cloud Debate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50" b="0" i="0">
                <a:solidFill>
                  <a:srgbClr val="6B7785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98480" cy="4526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Data sovereignty</a:t>
            </a:r>
          </a:p>
          <a:p>
            <a:pPr marL="758952" indent="-347472">
              <a:lnSpc>
                <a:spcPct val="105000"/>
              </a:lnSpc>
              <a:spcAft>
                <a:spcPts val="900"/>
              </a:spcAft>
              <a:buClr>
                <a:srgbClr val="2A6A98"/>
              </a:buClr>
              <a:buFont typeface="Arial"/>
              <a:buChar char="–"/>
            </a:pPr>
            <a:r>
              <a:rPr sz="2400" b="0" i="0">
                <a:solidFill>
                  <a:srgbClr val="3B4856"/>
                </a:solidFill>
                <a:latin typeface="Calibri"/>
              </a:rPr>
              <a:t>Who can compel access?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Cost and capacity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Speed of delivery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789920" cy="914400"/>
          </a:xfrm>
        </p:spPr>
        <p:txBody>
          <a:bodyPr wrap="square" anchor="ctr"/>
          <a:lstStyle/>
          <a:p>
            <a:pPr algn="l"/>
            <a:r>
              <a:rPr sz="3400" b="1" i="0">
                <a:solidFill>
                  <a:srgbClr val="1F2A37"/>
                </a:solidFill>
                <a:latin typeface="Georgia"/>
              </a:rPr>
              <a:t>The big picture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6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201168" cy="82296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98480" cy="152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050" b="0" i="0">
                <a:solidFill>
                  <a:srgbClr val="6B7785"/>
                </a:solidFill>
                <a:latin typeface="Calibri"/>
              </a:rPr>
              <a:t>The Swiss Cloud Debate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50" b="0" i="0">
                <a:solidFill>
                  <a:srgbClr val="6B7785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98480" cy="3291840"/>
          </a:xfrm>
          <a:prstGeom prst="rect">
            <a:avLst/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20240"/>
            <a:ext cx="109728" cy="329184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03120"/>
            <a:ext cx="9875520" cy="2926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r>
              <a:rPr sz="3000" b="0" i="0">
                <a:solidFill>
                  <a:srgbClr val="1F2A37"/>
                </a:solidFill>
                <a:latin typeface="Georgia"/>
              </a:rPr>
              <a:t>Sovereignty and cost pull in opposite directions.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789920" cy="914400"/>
          </a:xfrm>
        </p:spPr>
        <p:txBody>
          <a:bodyPr wrap="square" anchor="ctr"/>
          <a:lstStyle/>
          <a:p>
            <a:pPr algn="l"/>
            <a:r>
              <a:rPr sz="3400" b="1" i="0">
                <a:solidFill>
                  <a:srgbClr val="1F2A37"/>
                </a:solidFill>
                <a:latin typeface="Georgia"/>
              </a:rPr>
              <a:t>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6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201168" cy="82296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98480" cy="152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050" b="0" i="0">
                <a:solidFill>
                  <a:srgbClr val="6B7785"/>
                </a:solidFill>
                <a:latin typeface="Calibri"/>
              </a:rPr>
              <a:t>The Swiss Cloud Debate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50" b="0" i="0">
                <a:solidFill>
                  <a:srgbClr val="6B7785"/>
                </a:solidFill>
                <a:latin typeface="Calibr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645920"/>
          <a:ext cx="10698480" cy="17007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66160"/>
                <a:gridCol w="3566160"/>
                <a:gridCol w="35661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9728" marR="109728" anchor="ctr">
                    <a:solidFill>
                      <a:srgbClr val="2A6A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109728" marR="109728" anchor="ctr">
                    <a:solidFill>
                      <a:srgbClr val="2A6A9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109728" marR="109728" anchor="ctr">
                    <a:solidFill>
                      <a:srgbClr val="2A6A9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1F2A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F2A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1F2A37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1F2A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9728" marR="109728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F2A37"/>
                          </a:solidFill>
                          <a:latin typeface="Calibri"/>
                        </a:rPr>
                        <a:t>1,650</a:t>
                      </a:r>
                    </a:p>
                  </a:txBody>
                  <a:tcPr marL="109728" marR="109728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1F2A37"/>
                          </a:solidFill>
                          <a:latin typeface="Calibri"/>
                        </a:rPr>
                        <a:t>CH</a:t>
                      </a:r>
                    </a:p>
                  </a:txBody>
                  <a:tcPr marL="109728" marR="109728" anchor="ctr"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789920" cy="914400"/>
          </a:xfrm>
        </p:spPr>
        <p:txBody>
          <a:bodyPr wrap="square" anchor="ctr"/>
          <a:lstStyle/>
          <a:p>
            <a:pPr algn="l"/>
            <a:r>
              <a:rPr sz="3400" b="1" i="0">
                <a:solidFill>
                  <a:srgbClr val="1F2A37"/>
                </a:solidFill>
                <a:latin typeface="Georgia"/>
              </a:rPr>
              <a:t>A long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6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201168" cy="82296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98480" cy="152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050" b="0" i="0">
                <a:solidFill>
                  <a:srgbClr val="6B7785"/>
                </a:solidFill>
                <a:latin typeface="Calibri"/>
              </a:rPr>
              <a:t>The Swiss Cloud Debate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50" b="0" i="0">
                <a:solidFill>
                  <a:srgbClr val="6B7785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98480" cy="4526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1 with a fairly long sentence so that the slide must split into several parts safely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2 with a fairly long sentence so that the slide must split into several parts safely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3 with a fairly long sentence so that the slide must split into several parts safely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789920" cy="914400"/>
          </a:xfrm>
        </p:spPr>
        <p:txBody>
          <a:bodyPr wrap="square" anchor="ctr"/>
          <a:lstStyle/>
          <a:p>
            <a:pPr algn="l"/>
            <a:r>
              <a:rPr sz="3400" b="1" i="0">
                <a:solidFill>
                  <a:srgbClr val="1F2A37"/>
                </a:solidFill>
                <a:latin typeface="Georgia"/>
              </a:rPr>
              <a:t>A long slide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6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201168" cy="82296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98480" cy="152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050" b="0" i="0">
                <a:solidFill>
                  <a:srgbClr val="6B7785"/>
                </a:solidFill>
                <a:latin typeface="Calibri"/>
              </a:rPr>
              <a:t>The Swiss Cloud Debate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50" b="0" i="0">
                <a:solidFill>
                  <a:srgbClr val="6B7785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98480" cy="4526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4 with a fairly long sentence so that the slide must split into several parts safely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5 with a fairly long sentence so that the slide must split into several parts safely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6 with a fairly long sentence so that the slide must split into several parts safely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789920" cy="914400"/>
          </a:xfrm>
        </p:spPr>
        <p:txBody>
          <a:bodyPr wrap="square" anchor="ctr"/>
          <a:lstStyle/>
          <a:p>
            <a:pPr algn="l"/>
            <a:r>
              <a:rPr sz="3400" b="1" i="0">
                <a:solidFill>
                  <a:srgbClr val="1F2A37"/>
                </a:solidFill>
                <a:latin typeface="Georgia"/>
              </a:rPr>
              <a:t>A long slide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6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201168" cy="82296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98480" cy="152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050" b="0" i="0">
                <a:solidFill>
                  <a:srgbClr val="6B7785"/>
                </a:solidFill>
                <a:latin typeface="Calibri"/>
              </a:rPr>
              <a:t>The Swiss Cloud Debate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50" b="0" i="0">
                <a:solidFill>
                  <a:srgbClr val="6B7785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98480" cy="4526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7 with a fairly long sentence so that the slide must split into several parts safely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8 with a fairly long sentence so that the slide must split into several parts safely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9 with a fairly long sentence so that the slide must split into several parts safely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789920" cy="914400"/>
          </a:xfrm>
        </p:spPr>
        <p:txBody>
          <a:bodyPr wrap="square" anchor="ctr"/>
          <a:lstStyle/>
          <a:p>
            <a:pPr algn="l"/>
            <a:r>
              <a:rPr sz="3400" b="1" i="0">
                <a:solidFill>
                  <a:srgbClr val="1F2A37"/>
                </a:solidFill>
                <a:latin typeface="Georgia"/>
              </a:rPr>
              <a:t>A long slide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6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201168" cy="822960"/>
          </a:xfrm>
          <a:prstGeom prst="rect">
            <a:avLst/>
          </a:prstGeom>
          <a:solidFill>
            <a:srgbClr val="D5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98480" cy="15240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r>
              <a:rPr sz="1050" b="0" i="0">
                <a:solidFill>
                  <a:srgbClr val="6B7785"/>
                </a:solidFill>
                <a:latin typeface="Calibri"/>
              </a:rPr>
              <a:t>The Swiss Cloud Debate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50" b="0" i="0">
                <a:solidFill>
                  <a:srgbClr val="6B7785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98480" cy="4526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10 with a fairly long sentence so that the slide must split into several parts safely</a:t>
            </a:r>
          </a:p>
          <a:p>
            <a:pPr marL="347472" indent="-347472">
              <a:lnSpc>
                <a:spcPct val="105000"/>
              </a:lnSpc>
              <a:spcAft>
                <a:spcPts val="900"/>
              </a:spcAft>
              <a:buClr>
                <a:srgbClr val="D52B1E"/>
              </a:buClr>
              <a:buFont typeface="Arial"/>
              <a:buChar char="•"/>
            </a:pPr>
            <a:r>
              <a:rPr sz="2800" b="0" i="0">
                <a:solidFill>
                  <a:srgbClr val="1F2A37"/>
                </a:solidFill>
                <a:latin typeface="Calibri"/>
              </a:rPr>
              <a:t>Point number 11 with a fairly long sentence so that the slide must split into several parts safely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Swiss Cloud Debate</dc:title>
  <dc:subject/>
  <dc:creator>Anne-Marie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